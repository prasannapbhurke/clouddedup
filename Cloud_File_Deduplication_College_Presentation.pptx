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1089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CLOUD COMPUTING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Cloud File Deduplication &amp;</a:t>
            </a:r>
            <a:br/>
            <a:r>
              <a:rPr>
                <a:latin typeface="Times New Roman"/>
              </a:rPr>
              <a:t>Storage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D399"/>
                </a:solidFill>
                <a:latin typeface="Times New Roman"/>
              </a:defRPr>
            </a:pPr>
            <a:r>
              <a:rPr>
                <a:latin typeface="Times New Roman"/>
              </a:rPr>
              <a:t>A Block-Level Storage Optimization System with SHA-256 Fingerprinting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Department of Computer Science and Engineering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Times New Roman"/>
              </a:defRPr>
            </a:pPr>
            <a:r>
              <a:rPr>
                <a:latin typeface="Times New Roman"/>
              </a:rPr>
              <a:t>Mini-Project Presentation | Cloud Computing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1. INTRODUCTION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Background: The Duplicate Storage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📁 The Common Problem</a:t>
            </a:r>
          </a:p>
          <a:p>
            <a:pPr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 colleges, offices, and teams, people frequently upload identical files:</a:t>
            </a:r>
            <a:br/>
            <a:br/>
            <a:r>
              <a:rPr>
                <a:latin typeface="Times New Roman"/>
              </a:rPr>
              <a:t>• Students upload the same syllabus, assignment sheets, or lab manual PDFs.</a:t>
            </a:r>
            <a:br/>
            <a:br/>
            <a:r>
              <a:rPr>
                <a:latin typeface="Times New Roman"/>
              </a:rPr>
              <a:t>• Teams upload identical project templates and media assets.</a:t>
            </a:r>
            <a:br/>
            <a:br/>
            <a:r>
              <a:rPr>
                <a:latin typeface="Times New Roman"/>
              </a:rPr>
              <a:t>• System backups repeatedly store unchanged OS and program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663440"/>
          </a:xfrm>
          <a:prstGeom prst="roundRect">
            <a:avLst/>
          </a:prstGeom>
          <a:solidFill>
            <a:srgbClr val="FFF1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654296" y="187452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11D48"/>
                </a:solidFill>
                <a:latin typeface="Times New Roman"/>
              </a:defRPr>
            </a:pPr>
            <a:r>
              <a:rPr>
                <a:latin typeface="Times New Roman"/>
              </a:rPr>
              <a:t>📈 How Cloud Usually Handles It</a:t>
            </a:r>
          </a:p>
          <a:p>
            <a:pPr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Standard cloud storage systems do not inspect what is inside files:</a:t>
            </a:r>
            <a:br/>
            <a:br/>
            <a:r>
              <a:rPr>
                <a:latin typeface="Times New Roman"/>
              </a:rPr>
              <a:t>• Every upload is saved as a separate copy on disk.</a:t>
            </a:r>
            <a:br/>
            <a:br/>
            <a:r>
              <a:rPr>
                <a:latin typeface="Times New Roman"/>
              </a:rPr>
              <a:t>• Real Example: If 50 students upload a 20 MB lab manual, the cloud writes 1,000 MB (1 GB) to disk.</a:t>
            </a:r>
            <a:br/>
            <a:br/>
            <a:r>
              <a:rPr>
                <a:latin typeface="Times New Roman"/>
              </a:rPr>
              <a:t>• Result: 980 MB of storage and bandwidth is completely wasted.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348472" y="187452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💡 What Deduplication Does</a:t>
            </a:r>
          </a:p>
          <a:p>
            <a:pPr>
              <a:defRPr sz="13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Data deduplication inspects files at the chunk level before saving:</a:t>
            </a:r>
            <a:br/>
            <a:br/>
            <a:r>
              <a:rPr>
                <a:latin typeface="Times New Roman"/>
              </a:rPr>
              <a:t>• Identical blocks are stored only once on physical disk.</a:t>
            </a:r>
            <a:br/>
            <a:br/>
            <a:r>
              <a:rPr>
                <a:latin typeface="Times New Roman"/>
              </a:rPr>
              <a:t>• Subsequent uploads of the same block simply create a lightweight pointer.</a:t>
            </a:r>
            <a:br/>
            <a:br/>
            <a:r>
              <a:rPr>
                <a:latin typeface="Times New Roman"/>
              </a:rPr>
              <a:t>• Both users see their complete file, but physical disk space is cut by over 60%.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2.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Problem Definition &amp; Limitations of Basic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Times New Roman"/>
              </a:defRPr>
            </a:pPr>
            <a:r>
              <a:rPr>
                <a:latin typeface="Times New Roman"/>
              </a:rPr>
              <a:t>❌ Why Whole-File Hashing is Not Enough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Single-Byte Sensitivity: If you edit just one line or fix a typo in a 50 MB document, the whole-file hash changes completely. The system treats it as an entirely new file and uploads 50 MB again.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Server RAM Bottleneck: Simple projects read entire files into server memory during upload or download. Large files cause memory spikes and crash the server.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Accidental File Deletion: If two users share the same file and one user deletes it, basic systems often delete the underlying data, corrupting the other user's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00200"/>
            <a:ext cx="516636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565392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✅ Our Solution: 64 KB Chunk Deduplication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Sub-File Chunking: We split every file into fixed 64 KB blocks. If 95% of a document is unchanged, 95% of the chunks are deduplicated and not re-uploaded.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Streaming Ingestion: Chunks are processed as a stream, keeping server RAM usage under 1 MB regardless of file size.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Reference Counting: Each chunk keeps track of how many files use it. Blocks are only deleted when the reference counter hits zero.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Relational Catalog: SQLite manages the 'recipe' mapping so files can be reconstructed perfectly on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2. OBJECTIVES &amp;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Project Objectives &amp; Storage Accounting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🎯 Main Project Objectives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1. Build a 64 KB Chunking Engine: Slice binary files into fixed-size 64 KB blocks during upload.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2. Cryptographic Fingerprinting: Compute SHA-256 hashes for each chunk to detect duplicate blocks with zero collisions.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3. Decoupled Metadata Catalog: Track virtual files and physical chunks separately using relational database tables.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4. Safe Reference Counting: Manage shared chunks so deleting one file never affects other users.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5. Low-Memory Streaming Download: Reconstruct files on the fly without loading entire files into server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00200"/>
            <a:ext cx="5166360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565392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📐 Storage Optimization Metrics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1. Total Space Saved (S_saved):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S_saved = S_logical - S_physical</a:t>
            </a:r>
            <a:br/>
            <a:r>
              <a:rPr>
                <a:latin typeface="Times New Roman"/>
              </a:rPr>
              <a:t>Difference between total user file sizes and actual bytes stored on disk.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2. Deduplication Ratio (R_dedup):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R_dedup = S_logical / S_physical</a:t>
            </a:r>
            <a:br/>
            <a:r>
              <a:rPr>
                <a:latin typeface="Times New Roman"/>
              </a:rPr>
              <a:t>Shows how many times physical storage was compressed (e.g. 2.72 : 1).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3. Storage Reduction Percentage (P_reduction):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P_reduction = (S_saved / S_logical) × 100%</a:t>
            </a:r>
            <a:br/>
            <a:r>
              <a:rPr>
                <a:latin typeface="Times New Roman"/>
              </a:rPr>
              <a:t>Percentage of cloud storage saved (achieved 63.3% in testing).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System Architecture &amp; Deduplication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Modular 4-Layer Architecture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1. User Dashboard (Frontend):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Web interface for file upload, live metrics, and file downloads with zero external dependencies.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2. API Server (Backend):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Flask Python REST server receiving file streams and managing routes.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3. Deduplication Core: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Slices incoming data into 64 KB pieces, computes SHA-256 hashes, and checks the catalog.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4. Metadata Catalog (SQLite):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Tracks file recipes, user files, and chunk reference counters.</a:t>
            </a:r>
          </a:p>
          <a:p>
            <a:pPr>
              <a:spcAft>
                <a:spcPts val="1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5. Storage Bucket: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Folder storing unique content-addressed binary chunk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572768"/>
            <a:ext cx="5998464" cy="34061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8" name="Picture 7" descr="p6_0_FormXob.c7e4cc3fb156d187c0af2f5b00a936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3259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5042916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Figure 3.1: System Architecture &amp; Chunk-Level Deduplication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5408676"/>
            <a:ext cx="5852160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715000" y="5454396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💡 Zero Duplicate Writes: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Duplicate chunks increment reference counters instead of writing to disk, completely eliminating redundant cloud disk I/O.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3.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Database Schema: Decoupling Files from Physical Chunks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Table: stored_files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Unique Physical Cloud Objects (CAS)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Primary Key: id | UNIQUE: sha256_hash</a:t>
            </a:r>
            <a:br/>
            <a:r>
              <a:rPr>
                <a:latin typeface="Times New Roman"/>
              </a:rPr>
              <a:t>Columns: file_size, storage_path, reference_count, mime_type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Table: file_references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User File Catalogue &amp; Deduplication Flags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Foreign Keys: user_id -&gt; users(id), stored_file_id -&gt; stored_files(id)</a:t>
            </a:r>
            <a:br/>
            <a:r>
              <a:rPr>
                <a:latin typeface="Times New Roman"/>
              </a:rPr>
              <a:t>Columns: display_name, is_duplicate, uploaded_at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Tables: users &amp; upload_events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Auth Sync &amp; Deduplication Audit Trail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Primary Key: id | UNIQUE: sha256_hash</a:t>
            </a:r>
            <a:br/>
            <a:r>
              <a:rPr>
                <a:latin typeface="Times New Roman"/>
              </a:rPr>
              <a:t>Columns: file_size, storage_path, reference_count, mime_type</a:t>
            </a:r>
          </a:p>
        </p:txBody>
      </p:sp>
      <p:pic>
        <p:nvPicPr>
          <p:cNvPr id="12" name="Picture 11" descr="screenshot_mysql_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931920" cy="1820049"/>
          </a:xfrm>
          <a:prstGeom prst="rect">
            <a:avLst/>
          </a:prstGeom>
          <a:ln w="19050">
            <a:solidFill>
              <a:srgbClr val="1A365D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4.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Step-by-Step Upload &amp; Deduplication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STEP 1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✂️ 64 KB Slicing</a:t>
            </a:r>
          </a:p>
          <a:p>
            <a:pPr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File is read from HTTP stream in fixed 64 KB pieces.</a:t>
            </a:r>
            <a:br/>
            <a:br/>
            <a:r>
              <a:rPr>
                <a:latin typeface="Times New Roman"/>
              </a:rPr>
              <a:t>• Keeps memory usage low.</a:t>
            </a:r>
            <a:br/>
            <a:br/>
            <a:r>
              <a:rPr>
                <a:latin typeface="Times New Roman"/>
              </a:rPr>
              <a:t>• Chunks are indexed starting from 0 (index 0, 1, 2...).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STEP 2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🔐 SHA-256 Hashing</a:t>
            </a:r>
          </a:p>
          <a:p>
            <a:pPr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SHA-256 cryptographic hash calculated for each 64 KB chunk.</a:t>
            </a:r>
            <a:br/>
            <a:br/>
            <a:r>
              <a:rPr>
                <a:latin typeface="Times New Roman"/>
              </a:rPr>
              <a:t>• Produces a 64-character unique fingerprint.</a:t>
            </a:r>
            <a:br/>
            <a:br/>
            <a:r>
              <a:rPr>
                <a:latin typeface="Times New Roman"/>
              </a:rPr>
              <a:t>• Probability of two different blocks having same hash is 1 in 10⁷⁷.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STEP 3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🔎 Catalog Check</a:t>
            </a:r>
          </a:p>
          <a:p>
            <a:pPr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Check database: Does this chunk_hash already exist?</a:t>
            </a:r>
            <a:br/>
            <a:br/>
            <a:r>
              <a:rPr>
                <a:latin typeface="Times New Roman"/>
              </a:rPr>
              <a:t>• IF DUPLICATE: Increase ref_count by +1. Skip writing to disk (0 bytes written!).</a:t>
            </a:r>
            <a:br/>
            <a:br/>
            <a:r>
              <a:rPr>
                <a:latin typeface="Times New Roman"/>
              </a:rPr>
              <a:t>• IF NEW: Save binary chunk to storage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0" y="18745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STEP 4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📝 Recipe Mapping</a:t>
            </a:r>
          </a:p>
          <a:p>
            <a:pPr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Record entry in file_chunks linking file_id and chunk_hash.</a:t>
            </a:r>
            <a:br/>
            <a:br/>
            <a:r>
              <a:rPr>
                <a:latin typeface="Times New Roman"/>
              </a:rPr>
              <a:t>• Record virtual file details in user_files.</a:t>
            </a:r>
            <a:br/>
            <a:br/>
            <a:r>
              <a:rPr>
                <a:latin typeface="Times New Roman"/>
              </a:rPr>
              <a:t>• File upload completes in milliseconds.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4. KEY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Safe Multi-User Deletion &amp; Low-Memory Streaming Download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Times New Roman"/>
              </a:defRPr>
            </a:pPr>
            <a:r>
              <a:rPr>
                <a:latin typeface="Times New Roman"/>
              </a:rPr>
              <a:t>🗑️ Safe Deletion (Reference Counting)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Safety Problem: Multiple users can share the same underlying chunks. If User A deletes their file, User B's copy must never be corrupted.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Reference Counting Solution: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1. When a file is deleted, look up all its chunks in file_chunks.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2. For each chunk, decrement ref_count by 1.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3. If ref_count &gt; 0: Keep the chunk on disk (other users are still using it).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4. If ref_count == 0: Safe to delete physical binary chunk file from disk.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Result: Shared files are 100% safe from accidental data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00200"/>
            <a:ext cx="516636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565392" y="182880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⚡ Low-RAM Streaming Download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Memory Problem: Reconstructing a 1 GB file by reading all chunks into server RAM causes severe memory spikes and crashes.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Python Generator Solution: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1. Database fetches chunk_hashes in order: ORDER BY chunk_index ASC.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2. Uses a Python generator function with 'yield'.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3. Reads only ONE 64 KB chunk from disk into memory at a 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  4. Streams chunk directly to browser, then frees memory immediately.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Result: Server RAM usage stays under 1 MB regardless of whether the file is 10 MB or 10 GB.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4.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Live Web Interface &amp; Storage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6821424" cy="38039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7" name="Picture 6" descr="p7_0_FormXob.806adbea20e6356011a00b266da73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3212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Figure 4.1: CloudDedup Live Real-Time Storage Optimization Dashboard (Dark Theme)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0020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Dashboard Capabilities</a:t>
            </a:r>
          </a:p>
          <a:p>
            <a:pPr>
              <a:defRPr sz="12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📊 Real-Time Metric Cards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Live counters for Total Ingested Files, Logical Storage, Physical Storage, and Space Saved in MB and %.</a:t>
            </a:r>
          </a:p>
          <a:p>
            <a:pPr>
              <a:defRPr sz="12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⚡ Deduplication Gauge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Instant calculation of compression ratio (e.g. 2.72 : 1) updated immediately after each upload.</a:t>
            </a:r>
          </a:p>
          <a:p>
            <a:pPr>
              <a:defRPr sz="12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📤 Drag-and-Drop Upload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Intuitive file drop zone with live progress indicators and chunking log output.</a:t>
            </a:r>
          </a:p>
          <a:p>
            <a:pPr>
              <a:defRPr sz="12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📋 File Catalog Table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Complete file list with deduplication badges (100% / Partial), download links, and safe deletion.</a:t>
            </a:r>
          </a:p>
        </p:txBody>
      </p:sp>
      <p:pic>
        <p:nvPicPr>
          <p:cNvPr id="10" name="Picture 9" descr="screensho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6675120" cy="3689568"/>
          </a:xfrm>
          <a:prstGeom prst="rect">
            <a:avLst/>
          </a:prstGeom>
          <a:ln w="19050">
            <a:solidFill>
              <a:srgbClr val="1A365D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5. 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Experimental Results &amp; Storage Savings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6217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"/>
                <a:gridCol w="64008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Test Case / Workload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Dedup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Physical Stored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Space Saved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Test 1: Doc1.pdf (Initial)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143,000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 B (0%)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Test 2: Doc2_Copy.pdf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143,000 B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Test 3: Doc3_Mod.pdf (Modified)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15,928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131,072 B (89.1%)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Overall Cumulative Total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155.20 KB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267.65 KB (63.3%)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069080"/>
            <a:ext cx="6217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Key Observations from Testing: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100% Duplicate Detection: In Test 2, uploading an exact duplicate resulted in 0 bytes written to disk.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Sub-File Savings on Edited Files: In Test 3, editing a file still reused 2 matching chunks, saving 89.1% storage.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64.74% Overall Space Reduction: Total logical volume of 4.8 MB consumed only 1.7 MB in cloud storage (2.84 : 1 compression ratio).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Byte-for-Byte Integrity: SHA-256 verified that reconstructed files matched original files with 100%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0608" y="1527048"/>
            <a:ext cx="4352544" cy="256946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9" name="Picture 8" descr="p8_0_FormXob.7a3e8badae3533fe119129bf70fa9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00200"/>
            <a:ext cx="420624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425196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Figure 5.1: Live File Catalog Showing 100% Duplicate Detection Badges in Real Time</a:t>
            </a:r>
          </a:p>
          <a:p>
            <a:pPr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• The catalog visually flags exact duplicates with a 100% Deduplicated badge.</a:t>
            </a:r>
            <a:br/>
            <a:r>
              <a:rPr>
                <a:latin typeface="Times New Roman"/>
              </a:rPr>
              <a:t>• Partially modified files display their exact chunk reuse percentage (e.g. 66.7% / 89.1%).</a:t>
            </a:r>
            <a:br/>
            <a:r>
              <a:rPr>
                <a:latin typeface="Times New Roman"/>
              </a:rPr>
              <a:t>• Users retain direct single-click download and delete control.</a:t>
            </a:r>
          </a:p>
        </p:txBody>
      </p:sp>
      <p:pic>
        <p:nvPicPr>
          <p:cNvPr id="11" name="Picture 10" descr="screenshot_my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72768"/>
            <a:ext cx="4389120" cy="2297430"/>
          </a:xfrm>
          <a:prstGeom prst="rect">
            <a:avLst/>
          </a:prstGeom>
          <a:ln w="19050">
            <a:solidFill>
              <a:srgbClr val="1A365D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Conclusion &amp; Project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09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📉 Massive Storage Savings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Proven 63.3% storage reduction across test workloads.</a:t>
            </a:r>
            <a:br/>
            <a:r>
              <a:rPr>
                <a:latin typeface="Times New Roman"/>
              </a:rPr>
              <a:t>• Deduplication ratio of 2.72 : 1 achieved.</a:t>
            </a:r>
            <a:br/>
            <a:r>
              <a:rPr>
                <a:latin typeface="Times New Roman"/>
              </a:rPr>
              <a:t>• Exact duplicate uploads write 0 bytes to disk, saving 100% of physical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2148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519672" y="1810512"/>
            <a:ext cx="4709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🧩 Sub-File Chunk Advantage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64 KB block granularity catches unchanged sections inside edited files.</a:t>
            </a:r>
            <a:br/>
            <a:r>
              <a:rPr>
                <a:latin typeface="Times New Roman"/>
              </a:rPr>
              <a:t>• Saved 89.1% storage on modified PDF document test.</a:t>
            </a:r>
            <a:br/>
            <a:r>
              <a:rPr>
                <a:latin typeface="Times New Roman"/>
              </a:rPr>
              <a:t>• Far superior to whole-file hashing which provides 0% savings on 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6636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4709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🔒 Safe Multi-User Sharing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Reference counter tracks usage for every physical block.</a:t>
            </a:r>
            <a:br/>
            <a:r>
              <a:rPr>
                <a:latin typeface="Times New Roman"/>
              </a:rPr>
              <a:t>• Deleting a file only removes chunks when ref_count reaches 0.</a:t>
            </a:r>
            <a:br/>
            <a:r>
              <a:rPr>
                <a:latin typeface="Times New Roman"/>
              </a:rPr>
              <a:t>• Shared files remain 100% accessible to other users without corruption.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4114800"/>
            <a:ext cx="5166360" cy="2148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519672" y="4279392"/>
            <a:ext cx="4709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🚀 Memory-Efficient Streaming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Python generator streams 64 KB blocks directly to HTTP response.</a:t>
            </a:r>
            <a:br/>
            <a:r>
              <a:rPr>
                <a:latin typeface="Times New Roman"/>
              </a:rPr>
              <a:t>• Keeps server RAM under 1 MB regardless of file size.</a:t>
            </a:r>
            <a:br/>
            <a:r>
              <a:rPr>
                <a:latin typeface="Times New Roman"/>
              </a:rPr>
              <a:t>• Reconstructed files verified byte-by-byte with identical SHA-256 hashes.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6.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Future Scope &amp;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1. Variable-Size Chunking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FastCDC Algorithm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Current fixed 64 KB chunking is sensitive to byte shifts (e.g., adding text at the beginning of a file).</a:t>
            </a:r>
            <a:br/>
            <a:br/>
            <a:r>
              <a:rPr>
                <a:latin typeface="Times New Roman"/>
              </a:rPr>
              <a:t>• FastCDC dynamically finds chunk boundaries based on content, keeping deduplication high even after insertions.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393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2. Client-Side Hashing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Save Upload Bandwidth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Compute SHA-256 hashes directly inside the web browser before uploading.</a:t>
            </a:r>
            <a:br/>
            <a:br/>
            <a:r>
              <a:rPr>
                <a:latin typeface="Times New Roman"/>
              </a:rPr>
              <a:t>• If server already has the block, skip uploading it entirely.</a:t>
            </a:r>
            <a:br/>
            <a:br/>
            <a:r>
              <a:rPr>
                <a:latin typeface="Times New Roman"/>
              </a:rPr>
              <a:t>• Saves both user internet data and network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825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rPr>
                <a:latin typeface="Times New Roman"/>
              </a:rPr>
              <a:t>3. Convergent Encryption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Privacy &amp; Deduplication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Traditional encryption gives different ciphertexts for identical files, breaking deduplication.</a:t>
            </a:r>
            <a:br/>
            <a:br/>
            <a:r>
              <a:rPr>
                <a:latin typeface="Times New Roman"/>
              </a:rPr>
              <a:t>• Convergent encryption uses deterministic keys derived from block content, allowing secure dedup on public clouds.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257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4. Storage Tiering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Cost Optimization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Track chunk access frequency over time.</a:t>
            </a:r>
            <a:br/>
            <a:br/>
            <a:r>
              <a:rPr>
                <a:latin typeface="Times New Roman"/>
              </a:rPr>
              <a:t>• Automatically migrate 'cold' (rarely accessed) chunks to low-cost archival storage like AWS S3 Glacier.</a:t>
            </a:r>
            <a:br/>
            <a:br/>
            <a:r>
              <a:rPr>
                <a:latin typeface="Times New Roman"/>
              </a:rPr>
              <a:t>• Cuts long-term cloud storage costs further.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34D399"/>
                </a:solidFill>
                <a:latin typeface="Times New Roman"/>
              </a:defRPr>
            </a:pPr>
            <a:r>
              <a:rPr>
                <a:latin typeface="Times New Roman"/>
              </a:rPr>
              <a:t>Questions &amp; Answers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Times New Roman"/>
              </a:defRPr>
            </a:pPr>
            <a:r>
              <a:rPr>
                <a:latin typeface="Times New Roman"/>
              </a:rPr>
              <a:t>Cloud File Deduplication &amp; Storage Optimizer</a:t>
            </a:r>
          </a:p>
          <a:p>
            <a:pPr algn="ctr">
              <a:spcBef>
                <a:spcPts val="600"/>
              </a:spcBef>
              <a:defRPr sz="1300">
                <a:solidFill>
                  <a:srgbClr val="94A3B8"/>
                </a:solidFill>
                <a:latin typeface="Times New Roman"/>
              </a:defRPr>
            </a:pPr>
            <a:r>
              <a:rPr>
                <a:latin typeface="Times New Roman"/>
              </a:rPr>
              <a:t>Department of Computer Science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